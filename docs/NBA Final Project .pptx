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216332d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216332d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216332da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216332da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216332da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216332da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216332da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f216332da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216332da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216332da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216332da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216332da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22aa987e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22aa987e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geeksforgeeks.org/python/pyspark-tutoria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B26B"/>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Analysis of NBA through streaming, machine learning, and batches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Prithvi Koka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B26B"/>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Statement: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334328" lvl="0" marL="457200" rtl="0" algn="l">
              <a:lnSpc>
                <a:spcPct val="200000"/>
              </a:lnSpc>
              <a:spcBef>
                <a:spcPts val="0"/>
              </a:spcBef>
              <a:spcAft>
                <a:spcPts val="0"/>
              </a:spcAft>
              <a:buClr>
                <a:srgbClr val="666666"/>
              </a:buClr>
              <a:buSzPct val="100000"/>
              <a:buChar char="●"/>
            </a:pPr>
            <a:r>
              <a:rPr lang="en">
                <a:solidFill>
                  <a:srgbClr val="666666"/>
                </a:solidFill>
              </a:rPr>
              <a:t>The NBA Finals has just concluded. People are high on the </a:t>
            </a:r>
            <a:r>
              <a:rPr lang="en">
                <a:solidFill>
                  <a:srgbClr val="666666"/>
                </a:solidFill>
              </a:rPr>
              <a:t>spirits</a:t>
            </a:r>
            <a:r>
              <a:rPr lang="en">
                <a:solidFill>
                  <a:srgbClr val="666666"/>
                </a:solidFill>
              </a:rPr>
              <a:t> of the Knicks winning. However, each game was fairly unpredictable. </a:t>
            </a:r>
            <a:endParaRPr>
              <a:solidFill>
                <a:srgbClr val="666666"/>
              </a:solidFill>
            </a:endParaRPr>
          </a:p>
          <a:p>
            <a:pPr indent="-334328" lvl="0" marL="457200" rtl="0" algn="l">
              <a:lnSpc>
                <a:spcPct val="200000"/>
              </a:lnSpc>
              <a:spcBef>
                <a:spcPts val="0"/>
              </a:spcBef>
              <a:spcAft>
                <a:spcPts val="0"/>
              </a:spcAft>
              <a:buClr>
                <a:srgbClr val="666666"/>
              </a:buClr>
              <a:buSzPct val="100000"/>
              <a:buChar char="●"/>
            </a:pPr>
            <a:r>
              <a:rPr lang="en">
                <a:solidFill>
                  <a:srgbClr val="666666"/>
                </a:solidFill>
              </a:rPr>
              <a:t>What if there was a way to predict the game before it even happened? NBA game data can create the perfect opportunity to look at performance trends, simulate real time game data and even build predictive models for game outcomes. </a:t>
            </a:r>
            <a:endParaRPr>
              <a:solidFill>
                <a:srgbClr val="666666"/>
              </a:solidFil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B26B"/>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we </a:t>
            </a:r>
            <a:r>
              <a:rPr lang="en"/>
              <a:t>accomplish</a:t>
            </a:r>
            <a:r>
              <a:rPr lang="en"/>
              <a:t> this: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Clr>
                <a:srgbClr val="666666"/>
              </a:buClr>
              <a:buSzPts val="1800"/>
              <a:buChar char="●"/>
            </a:pPr>
            <a:r>
              <a:rPr lang="en">
                <a:solidFill>
                  <a:srgbClr val="666666"/>
                </a:solidFill>
              </a:rPr>
              <a:t>The project designs and implements a big data analytics pipeline using Apache Spark by processes, streams, and modeling historical NBA </a:t>
            </a:r>
            <a:r>
              <a:rPr lang="en">
                <a:solidFill>
                  <a:srgbClr val="666666"/>
                </a:solidFill>
              </a:rPr>
              <a:t>statistics</a:t>
            </a:r>
            <a:r>
              <a:rPr lang="en">
                <a:solidFill>
                  <a:srgbClr val="666666"/>
                </a:solidFill>
              </a:rPr>
              <a:t>. </a:t>
            </a:r>
            <a:endParaRPr>
              <a:solidFill>
                <a:srgbClr val="666666"/>
              </a:solidFill>
            </a:endParaRPr>
          </a:p>
          <a:p>
            <a:pPr indent="-342900" lvl="0" marL="457200" rtl="0" algn="l">
              <a:lnSpc>
                <a:spcPct val="200000"/>
              </a:lnSpc>
              <a:spcBef>
                <a:spcPts val="0"/>
              </a:spcBef>
              <a:spcAft>
                <a:spcPts val="0"/>
              </a:spcAft>
              <a:buClr>
                <a:srgbClr val="666666"/>
              </a:buClr>
              <a:buSzPts val="1800"/>
              <a:buChar char="●"/>
            </a:pPr>
            <a:r>
              <a:rPr lang="en">
                <a:solidFill>
                  <a:srgbClr val="666666"/>
                </a:solidFill>
              </a:rPr>
              <a:t>This demonstrates the use of Structured APIs, streaming, and Machine Learning Library working together. </a:t>
            </a:r>
            <a:endParaRPr>
              <a:solidFill>
                <a:srgbClr val="6666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B26B"/>
        </a:solid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Introduction:</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Consists of games.csv (historical data on games and team stats), game_details.csv (player stats), players.csv (a list of all the players), rankings.csv (list of records), teams.csv (list of all the teams)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B26B"/>
        </a:solidFill>
      </p:bgPr>
    </p:bg>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Batch Analysis (Structured APIs)</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666666"/>
              </a:buClr>
              <a:buSzPts val="1800"/>
              <a:buChar char="●"/>
            </a:pPr>
            <a:r>
              <a:rPr lang="en">
                <a:solidFill>
                  <a:srgbClr val="666666"/>
                </a:solidFill>
              </a:rPr>
              <a:t>Read 3 CSV files into Spark DataFrames using spark.read.csv</a:t>
            </a:r>
            <a:endParaRPr>
              <a:solidFill>
                <a:srgbClr val="666666"/>
              </a:solidFill>
            </a:endParaRPr>
          </a:p>
          <a:p>
            <a:pPr indent="-342900" lvl="0" marL="457200" rtl="0" algn="l">
              <a:spcBef>
                <a:spcPts val="0"/>
              </a:spcBef>
              <a:spcAft>
                <a:spcPts val="0"/>
              </a:spcAft>
              <a:buClr>
                <a:srgbClr val="666666"/>
              </a:buClr>
              <a:buSzPts val="1800"/>
              <a:buChar char="●"/>
            </a:pPr>
            <a:r>
              <a:rPr lang="en">
                <a:solidFill>
                  <a:srgbClr val="666666"/>
                </a:solidFill>
              </a:rPr>
              <a:t>Q1: Splits each game into 2 rows (Home and Away) using union and chains them using [groupBy -&gt; agg -&gt; join] which ranks teams by win % and point margin over last 5 seasons. Same </a:t>
            </a:r>
            <a:r>
              <a:rPr lang="en">
                <a:solidFill>
                  <a:srgbClr val="666666"/>
                </a:solidFill>
              </a:rPr>
              <a:t>query</a:t>
            </a:r>
            <a:r>
              <a:rPr lang="en">
                <a:solidFill>
                  <a:srgbClr val="666666"/>
                </a:solidFill>
              </a:rPr>
              <a:t> is ran using SparkSQL with the createOrReplaceTempView</a:t>
            </a:r>
            <a:endParaRPr>
              <a:solidFill>
                <a:srgbClr val="666666"/>
              </a:solidFill>
            </a:endParaRPr>
          </a:p>
          <a:p>
            <a:pPr indent="-342900" lvl="0" marL="457200" rtl="0" algn="l">
              <a:spcBef>
                <a:spcPts val="0"/>
              </a:spcBef>
              <a:spcAft>
                <a:spcPts val="0"/>
              </a:spcAft>
              <a:buClr>
                <a:srgbClr val="666666"/>
              </a:buClr>
              <a:buSzPts val="1800"/>
              <a:buChar char="●"/>
            </a:pPr>
            <a:r>
              <a:rPr lang="en">
                <a:solidFill>
                  <a:srgbClr val="666666"/>
                </a:solidFill>
              </a:rPr>
              <a:t>Q2: Uses withColumn + to F.when to bucket 3PT% into different ranges then </a:t>
            </a:r>
            <a:r>
              <a:rPr lang="en">
                <a:solidFill>
                  <a:srgbClr val="666666"/>
                </a:solidFill>
              </a:rPr>
              <a:t>aggregates</a:t>
            </a:r>
            <a:r>
              <a:rPr lang="en">
                <a:solidFill>
                  <a:srgbClr val="666666"/>
                </a:solidFill>
              </a:rPr>
              <a:t> win rate per goal. SQL query to track league 3PT% season by season.</a:t>
            </a:r>
            <a:endParaRPr>
              <a:solidFill>
                <a:srgbClr val="666666"/>
              </a:solidFill>
            </a:endParaRPr>
          </a:p>
          <a:p>
            <a:pPr indent="-342900" lvl="0" marL="457200" rtl="0" algn="l">
              <a:spcBef>
                <a:spcPts val="0"/>
              </a:spcBef>
              <a:spcAft>
                <a:spcPts val="0"/>
              </a:spcAft>
              <a:buClr>
                <a:srgbClr val="666666"/>
              </a:buClr>
              <a:buSzPts val="1800"/>
              <a:buChar char="●"/>
            </a:pPr>
            <a:r>
              <a:rPr lang="en">
                <a:solidFill>
                  <a:srgbClr val="666666"/>
                </a:solidFill>
              </a:rPr>
              <a:t>Q3: Calculates absolute point margin with F.abs, groups by home/away winner and uses Case When operation to average margins.</a:t>
            </a:r>
            <a:endParaRPr>
              <a:solidFill>
                <a:srgbClr val="66666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B26B"/>
        </a:solidFill>
      </p:bgPr>
    </p:bg>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Streaming (Structured Streaming)</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split into two processes: a </a:t>
            </a:r>
            <a:r>
              <a:rPr b="1" lang="en"/>
              <a:t>consumer </a:t>
            </a:r>
            <a:r>
              <a:rPr lang="en"/>
              <a:t>process and a </a:t>
            </a:r>
            <a:r>
              <a:rPr b="1" lang="en"/>
              <a:t>producer </a:t>
            </a:r>
            <a:r>
              <a:rPr lang="en"/>
              <a:t>process. </a:t>
            </a:r>
            <a:endParaRPr/>
          </a:p>
          <a:p>
            <a:pPr indent="-342900" lvl="0" marL="457200" rtl="0" algn="l">
              <a:spcBef>
                <a:spcPts val="0"/>
              </a:spcBef>
              <a:spcAft>
                <a:spcPts val="0"/>
              </a:spcAft>
              <a:buSzPts val="1800"/>
              <a:buChar char="●"/>
            </a:pPr>
            <a:r>
              <a:rPr lang="en"/>
              <a:t>The </a:t>
            </a:r>
            <a:r>
              <a:rPr b="1" lang="en"/>
              <a:t>producer </a:t>
            </a:r>
            <a:r>
              <a:rPr lang="en"/>
              <a:t>picks a random game from the csv file, simulates play by play, iterates through all 4 quarters, scales each player’s real stats by a factor which generates quarter stats. Each event is written as a JSON file to a directory.</a:t>
            </a:r>
            <a:endParaRPr/>
          </a:p>
          <a:p>
            <a:pPr indent="-342900" lvl="0" marL="457200" rtl="0" algn="l">
              <a:spcBef>
                <a:spcPts val="0"/>
              </a:spcBef>
              <a:spcAft>
                <a:spcPts val="0"/>
              </a:spcAft>
              <a:buSzPts val="1800"/>
              <a:buChar char="●"/>
            </a:pPr>
            <a:r>
              <a:rPr lang="en"/>
              <a:t>The consumer uses spark.readstream to watch the </a:t>
            </a:r>
            <a:r>
              <a:rPr lang="en"/>
              <a:t>directory for new JSON files. Three queries run generate scoreboard (groupBy), momentum (F.when), and top performers (.agg)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B26B"/>
        </a:solidFill>
      </p:bgPr>
    </p:bg>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Machine Learning</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Build a logistic regression model in order to predict whether a home team  wins a game</a:t>
            </a:r>
            <a:endParaRPr/>
          </a:p>
          <a:p>
            <a:pPr indent="-342900" lvl="0" marL="457200" rtl="0" algn="l">
              <a:spcBef>
                <a:spcPts val="0"/>
              </a:spcBef>
              <a:spcAft>
                <a:spcPts val="0"/>
              </a:spcAft>
              <a:buSzPts val="1800"/>
              <a:buChar char="●"/>
            </a:pPr>
            <a:r>
              <a:rPr lang="en"/>
              <a:t>Feature engineering - Adds two rolling window features which averages each team’s points over last 5 games for momentum capture.</a:t>
            </a:r>
            <a:endParaRPr/>
          </a:p>
          <a:p>
            <a:pPr indent="-342900" lvl="0" marL="457200" rtl="0" algn="l">
              <a:spcBef>
                <a:spcPts val="0"/>
              </a:spcBef>
              <a:spcAft>
                <a:spcPts val="0"/>
              </a:spcAft>
              <a:buSzPts val="1800"/>
              <a:buChar char="●"/>
            </a:pPr>
            <a:r>
              <a:rPr lang="en"/>
              <a:t>Train/Test: Games before 2021 - Train, 2021 after - Test</a:t>
            </a:r>
            <a:endParaRPr/>
          </a:p>
          <a:p>
            <a:pPr indent="-342900" lvl="0" marL="457200" rtl="0" algn="l">
              <a:spcBef>
                <a:spcPts val="0"/>
              </a:spcBef>
              <a:spcAft>
                <a:spcPts val="0"/>
              </a:spcAft>
              <a:buSzPts val="1800"/>
              <a:buChar char="●"/>
            </a:pPr>
            <a:r>
              <a:rPr lang="en"/>
              <a:t>Evaluates AUC-ROC, Accuracy, F1, Precision, Recall on train and test set as well as a confusion matrix</a:t>
            </a:r>
            <a:endParaRPr/>
          </a:p>
          <a:p>
            <a:pPr indent="-342900" lvl="0" marL="457200" rtl="0" algn="l">
              <a:spcBef>
                <a:spcPts val="0"/>
              </a:spcBef>
              <a:spcAft>
                <a:spcPts val="0"/>
              </a:spcAft>
              <a:buSzPts val="1800"/>
              <a:buChar char="●"/>
            </a:pPr>
            <a:r>
              <a:rPr lang="en"/>
              <a:t>Build a feature importance model to show which stats influence prediction the most</a:t>
            </a:r>
            <a:endParaRPr/>
          </a:p>
          <a:p>
            <a:pPr indent="-342900" lvl="0" marL="457200" rtl="0" algn="l">
              <a:spcBef>
                <a:spcPts val="0"/>
              </a:spcBef>
              <a:spcAft>
                <a:spcPts val="0"/>
              </a:spcAft>
              <a:buSzPts val="1800"/>
              <a:buChar char="●"/>
            </a:pPr>
            <a:r>
              <a:rPr lang="en"/>
              <a:t>Use Cross Validation to find best model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B26B"/>
        </a:solidFill>
      </p:bgPr>
    </p:bg>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Bibliography: </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-Cross Validation: Used code from an Applied Machine Learning class I took earlier at UNCC.</a:t>
            </a:r>
            <a:endParaRPr/>
          </a:p>
          <a:p>
            <a:pPr indent="0" lvl="0" marL="0" rtl="0" algn="l">
              <a:spcBef>
                <a:spcPts val="1200"/>
              </a:spcBef>
              <a:spcAft>
                <a:spcPts val="0"/>
              </a:spcAft>
              <a:buNone/>
            </a:pPr>
            <a:r>
              <a:rPr lang="en"/>
              <a:t>-Claude: Brainstorming ideas as well as formatting files/ReadMe.md and diagnosing errors. </a:t>
            </a:r>
            <a:endParaRPr/>
          </a:p>
          <a:p>
            <a:pPr indent="0" lvl="0" marL="0" rtl="0" algn="l">
              <a:spcBef>
                <a:spcPts val="1200"/>
              </a:spcBef>
              <a:spcAft>
                <a:spcPts val="1200"/>
              </a:spcAft>
              <a:buNone/>
            </a:pPr>
            <a:r>
              <a:rPr lang="en" u="sng">
                <a:solidFill>
                  <a:schemeClr val="hlink"/>
                </a:solidFill>
                <a:hlinkClick r:id="rId3"/>
              </a:rPr>
              <a:t>https://www.geeksforgeeks.org/python/pyspark-tutorial/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